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12192000"/>
  <p:embeddedFontLst>
    <p:embeddedFont>
      <p:font typeface="Comfortaa" panose="020B0604020202020204" charset="0"/>
      <p:regular r:id="rId9"/>
      <p:bold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823F0-DF06-4C54-93D2-A021410D1DD9}" v="1" dt="2026-04-14T13:06:02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76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2100263"/>
            <a:ext cx="838200" cy="952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985195" y="1509713"/>
            <a:ext cx="622161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636E72"/>
                </a:solidFill>
              </a:rPr>
              <a:t>ABC Company</a:t>
            </a:r>
            <a:endParaRPr lang="en-US" sz="2100" dirty="0"/>
          </a:p>
        </p:txBody>
      </p:sp>
      <p:sp>
        <p:nvSpPr>
          <p:cNvPr id="6" name="Text 1"/>
          <p:cNvSpPr/>
          <p:nvPr/>
        </p:nvSpPr>
        <p:spPr>
          <a:xfrm>
            <a:off x="2985195" y="3557588"/>
            <a:ext cx="6221611" cy="1866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6375" b="1" dirty="0">
                <a:solidFill>
                  <a:srgbClr val="2D34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ระบบบริหารการลา
และการอนุมัติ</a:t>
            </a:r>
            <a:endParaRPr lang="en-US" sz="6375" dirty="0"/>
          </a:p>
        </p:txBody>
      </p:sp>
      <p:sp>
        <p:nvSpPr>
          <p:cNvPr id="7" name="Text 2"/>
          <p:cNvSpPr/>
          <p:nvPr/>
        </p:nvSpPr>
        <p:spPr>
          <a:xfrm>
            <a:off x="2985195" y="5614988"/>
            <a:ext cx="622161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EA580C"/>
                </a:solidFill>
              </a:rPr>
              <a:t>เพิ่มประสิทธิภาพองค์กรด้วย Workflow ที่ชัดเจน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95788"/>
            <a:ext cx="11430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687217"/>
            <a:ext cx="2346871" cy="14742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5710" y="3687217"/>
            <a:ext cx="2346871" cy="14742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420" y="3687217"/>
            <a:ext cx="2346871" cy="14742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3129" y="3687217"/>
            <a:ext cx="2346871" cy="147429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762000"/>
            <a:ext cx="11811000" cy="561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D34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ขั้นตอนการยื่นคำขอและอนุมัติ</a:t>
            </a:r>
            <a:endParaRPr lang="en-US" sz="3900" dirty="0"/>
          </a:p>
        </p:txBody>
      </p:sp>
      <p:sp>
        <p:nvSpPr>
          <p:cNvPr id="10" name="Text 1"/>
          <p:cNvSpPr/>
          <p:nvPr/>
        </p:nvSpPr>
        <p:spPr>
          <a:xfrm>
            <a:off x="952500" y="3877717"/>
            <a:ext cx="19658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984E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1. ยื่นคำขอ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952500" y="4353967"/>
            <a:ext cx="1965871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572E26"/>
                </a:solidFill>
              </a:rPr>
              <a:t>พนักงานระบุวันที่และเหตุผลผ่านระบบออนไลน์</a:t>
            </a:r>
            <a:endParaRPr lang="en-US" sz="1350" dirty="0"/>
          </a:p>
        </p:txBody>
      </p:sp>
      <p:sp>
        <p:nvSpPr>
          <p:cNvPr id="12" name="Text 3"/>
          <p:cNvSpPr/>
          <p:nvPr/>
        </p:nvSpPr>
        <p:spPr>
          <a:xfrm>
            <a:off x="3726210" y="3877717"/>
            <a:ext cx="19658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984E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2. ตรวจสอบ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3726210" y="4353967"/>
            <a:ext cx="1965871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572E26"/>
                </a:solidFill>
              </a:rPr>
              <a:t>หัวหน้างานตรวจสอบสิทธิ์และแผนงานทดแทน</a:t>
            </a:r>
            <a:endParaRPr lang="en-US" sz="1350" dirty="0"/>
          </a:p>
        </p:txBody>
      </p:sp>
      <p:sp>
        <p:nvSpPr>
          <p:cNvPr id="14" name="Text 5"/>
          <p:cNvSpPr/>
          <p:nvPr/>
        </p:nvSpPr>
        <p:spPr>
          <a:xfrm>
            <a:off x="6499920" y="3877717"/>
            <a:ext cx="19658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984E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3. อนุมัติ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6499920" y="4353967"/>
            <a:ext cx="1965871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572E26"/>
                </a:solidFill>
              </a:rPr>
              <a:t>ผู้มีอำนาจพิจารณาอนุมัติหรือปฏิเสธคำขอ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9273629" y="3877717"/>
            <a:ext cx="19658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984E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4. บันทึกผล</a:t>
            </a:r>
            <a:endParaRPr lang="en-US" sz="2100" dirty="0"/>
          </a:p>
        </p:txBody>
      </p:sp>
      <p:sp>
        <p:nvSpPr>
          <p:cNvPr id="17" name="Text 8"/>
          <p:cNvSpPr/>
          <p:nvPr/>
        </p:nvSpPr>
        <p:spPr>
          <a:xfrm>
            <a:off x="9273629" y="4353967"/>
            <a:ext cx="1965871" cy="4455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572E26"/>
                </a:solidFill>
              </a:rPr>
              <a:t>ระบบอัปเดตสถิติการลาและแจ้งฝ่ายบุคคล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10734675" y="6696075"/>
            <a:ext cx="1457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BEC3"/>
                </a:solidFill>
              </a:rPr>
              <a:t>ABC Company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905000"/>
            <a:ext cx="5476875" cy="45624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588" y="5167313"/>
            <a:ext cx="6477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1905000"/>
            <a:ext cx="5476875" cy="45624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8713" y="5324475"/>
            <a:ext cx="647700" cy="571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81000" y="762000"/>
            <a:ext cx="11811000" cy="561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D34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ประเภทการลาและสิทธิ์พนักงาน</a:t>
            </a:r>
            <a:endParaRPr lang="en-US" sz="3900" dirty="0"/>
          </a:p>
        </p:txBody>
      </p:sp>
      <p:sp>
        <p:nvSpPr>
          <p:cNvPr id="9" name="Text 1"/>
          <p:cNvSpPr/>
          <p:nvPr/>
        </p:nvSpPr>
        <p:spPr>
          <a:xfrm>
            <a:off x="762000" y="2443163"/>
            <a:ext cx="4714875" cy="4476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580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การลาพักผ่อน</a:t>
            </a:r>
            <a:endParaRPr lang="en-US" sz="3000" dirty="0"/>
          </a:p>
        </p:txBody>
      </p:sp>
      <p:sp>
        <p:nvSpPr>
          <p:cNvPr id="10" name="Text 2"/>
          <p:cNvSpPr/>
          <p:nvPr/>
        </p:nvSpPr>
        <p:spPr>
          <a:xfrm>
            <a:off x="762000" y="3262313"/>
            <a:ext cx="47148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572E26"/>
                </a:solidFill>
              </a:rPr>
              <a:t>สิทธิ์พื้นฐาน 10 วันต่อปี (สะสมได้ตามอายุงาน)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762000" y="4405313"/>
            <a:ext cx="47148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572E26"/>
                </a:solidFill>
              </a:rPr>
              <a:t>ต้องส่งใบลาล่วงหน้าอย่างน้อย 1 วัน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6715125" y="2286000"/>
            <a:ext cx="471487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580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การลาป่วย/กิจ</a:t>
            </a:r>
            <a:endParaRPr lang="en-US" sz="3000" dirty="0"/>
          </a:p>
        </p:txBody>
      </p:sp>
      <p:sp>
        <p:nvSpPr>
          <p:cNvPr id="13" name="Text 5"/>
          <p:cNvSpPr/>
          <p:nvPr/>
        </p:nvSpPr>
        <p:spPr>
          <a:xfrm>
            <a:off x="6715125" y="3076575"/>
            <a:ext cx="47148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572E26"/>
                </a:solidFill>
              </a:rPr>
              <a:t>ลาป่วยได้ตามจริง (เกิน 3 วันต้องมีใบรับรองแพทย์)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6715125" y="4219575"/>
            <a:ext cx="47148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572E26"/>
                </a:solidFill>
              </a:rPr>
              <a:t>ลากิจส่วนตัวได้ปีละไม่เกิน 45 วัน (ข้าราชการ)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10734675" y="6696075"/>
            <a:ext cx="1457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BEC3"/>
                </a:solidFill>
              </a:rPr>
              <a:t>ABC Company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4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202F7F-2E62-41ED-A000-BD7BDA0B9B9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c4ad0a4-2852-43b3-80b2-8e189eaa88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0D85681EFDD41926ADAA1A63A2480" ma:contentTypeVersion="19" ma:contentTypeDescription="Create a new document." ma:contentTypeScope="" ma:versionID="b1b6b9f9b92d2dbe06b75be8bca2324e">
  <xsd:schema xmlns:xsd="http://www.w3.org/2001/XMLSchema" xmlns:xs="http://www.w3.org/2001/XMLSchema" xmlns:p="http://schemas.microsoft.com/office/2006/metadata/properties" xmlns:ns2="344fcfc7-5b19-44ce-bc4b-6c49e5536290" xmlns:ns3="d472a52b-9bde-454b-93cd-81bd81b33f4c" targetNamespace="http://schemas.microsoft.com/office/2006/metadata/properties" ma:root="true" ma:fieldsID="b075f775171ab4a00868fa59780cff7d" ns2:_="" ns3:_="">
    <xsd:import namespace="344fcfc7-5b19-44ce-bc4b-6c49e5536290"/>
    <xsd:import namespace="d472a52b-9bde-454b-93cd-81bd81b33f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fcfc7-5b19-44ce-bc4b-6c49e55362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dd84382-b38c-4eba-b7c2-4a66a077de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72a52b-9bde-454b-93cd-81bd81b33f4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f0fe274-8896-4b00-b4ce-04e7414351db}" ma:internalName="TaxCatchAll" ma:showField="CatchAllData" ma:web="d472a52b-9bde-454b-93cd-81bd81b33f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fcfc7-5b19-44ce-bc4b-6c49e5536290">
      <Terms xmlns="http://schemas.microsoft.com/office/infopath/2007/PartnerControls"/>
    </lcf76f155ced4ddcb4097134ff3c332f>
    <TaxCatchAll xmlns="d472a52b-9bde-454b-93cd-81bd81b33f4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38B2C1-44C3-435A-91D0-8E63D4AB31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4fcfc7-5b19-44ce-bc4b-6c49e5536290"/>
    <ds:schemaRef ds:uri="d472a52b-9bde-454b-93cd-81bd81b33f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A70CEC-4A25-4A66-8FB7-5BBAC79F119A}">
  <ds:schemaRefs>
    <ds:schemaRef ds:uri="http://schemas.microsoft.com/office/2006/metadata/properties"/>
    <ds:schemaRef ds:uri="http://schemas.microsoft.com/office/infopath/2007/PartnerControls"/>
    <ds:schemaRef ds:uri="344fcfc7-5b19-44ce-bc4b-6c49e5536290"/>
    <ds:schemaRef ds:uri="d472a52b-9bde-454b-93cd-81bd81b33f4c"/>
  </ds:schemaRefs>
</ds:datastoreItem>
</file>

<file path=customXml/itemProps3.xml><?xml version="1.0" encoding="utf-8"?>
<ds:datastoreItem xmlns:ds="http://schemas.openxmlformats.org/officeDocument/2006/customXml" ds:itemID="{C0C8E28C-F835-457A-AEF6-9E2B995C0E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Comfortaa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presale-dss, hasth</cp:lastModifiedBy>
  <cp:revision>1</cp:revision>
  <dcterms:created xsi:type="dcterms:W3CDTF">2026-04-14T10:43:23Z</dcterms:created>
  <dcterms:modified xsi:type="dcterms:W3CDTF">2026-04-14T13:13:18Z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0x0101003200D85681EFDD41926ADAA1A63A2480</vt:lpwstr>
  </property>
  <property fmtid="{D5CDD505-2E9C-101B-9397-08002B2CF9AE}" pid="3" name="MediaServiceImageTags">
    <vt:lpwstr/>
  </property>
</Properties>
</file>